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23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852160" cy="508863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·  ECSE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6858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AI-Controlled Hybrid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Storage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82880" y="2468880"/>
            <a:ext cx="2286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26060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Braking Simulation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 + MATLAB / Simulink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3429000"/>
            <a:ext cx="1170432" cy="347472"/>
          </a:xfrm>
          <a:prstGeom prst="rect">
            <a:avLst/>
          </a:prstGeom>
          <a:solidFill>
            <a:srgbClr val="1A3A5C"/>
          </a:solidFill>
          <a:ln w="762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" y="342900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81328" y="3429000"/>
            <a:ext cx="1170432" cy="347472"/>
          </a:xfrm>
          <a:prstGeom prst="rect">
            <a:avLst/>
          </a:prstGeom>
          <a:solidFill>
            <a:srgbClr val="1A3A5C"/>
          </a:solidFill>
          <a:ln w="762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81328" y="342900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79776" y="3429000"/>
            <a:ext cx="1170432" cy="347472"/>
          </a:xfrm>
          <a:prstGeom prst="rect">
            <a:avLst/>
          </a:prstGeom>
          <a:solidFill>
            <a:srgbClr val="1A3A5C"/>
          </a:solidFill>
          <a:ln w="762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79776" y="342900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78224" y="3429000"/>
            <a:ext cx="1170432" cy="347472"/>
          </a:xfrm>
          <a:prstGeom prst="rect">
            <a:avLst/>
          </a:prstGeom>
          <a:solidFill>
            <a:srgbClr val="1A3A5C"/>
          </a:solidFill>
          <a:ln w="762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78224" y="342900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Coordinator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Sreedevi V 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548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95160" y="960120"/>
            <a:ext cx="1097280" cy="1097280"/>
          </a:xfrm>
          <a:prstGeom prst="ellipse">
            <a:avLst/>
          </a:prstGeom>
          <a:solidFill>
            <a:srgbClr val="1A3A5C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95160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2194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Tanisha Ahlawat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35040" y="2578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23BEL1003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852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ECSE Engineering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4754880"/>
            <a:ext cx="32004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4773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about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1691640"/>
          </a:xfrm>
          <a:prstGeom prst="rect">
            <a:avLst/>
          </a:prstGeom>
          <a:solidFill>
            <a:srgbClr val="0E1E35"/>
          </a:solidFill>
          <a:ln w="10160">
            <a:solidFill>
              <a:srgbClr val="8B5C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93192" y="11887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171907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conventional vehicles, kinetic energy is completely wasted as heat during braking. EVs can recover this energy — but smart storage management is critical.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206240" cy="1691640"/>
          </a:xfrm>
          <a:prstGeom prst="rect">
            <a:avLst/>
          </a:prstGeom>
          <a:solidFill>
            <a:srgbClr val="0E1E35"/>
          </a:solidFill>
          <a:ln w="1016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73752" y="118872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171907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Energy Storage System (HESS) combining a lithium-ion battery and a supercapacitor, managed by a Random Forest ML classifier.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4206240" cy="1691640"/>
          </a:xfrm>
          <a:prstGeom prst="rect">
            <a:avLst/>
          </a:prstGeom>
          <a:solidFill>
            <a:srgbClr val="0E1E35"/>
          </a:solidFill>
          <a:ln w="10160">
            <a:solidFill>
              <a:srgbClr val="00E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3192" y="3108960"/>
            <a:ext cx="457200" cy="4572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" y="363931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agent decides at every braking event how to split recovered power — supercapacitor absorbs sudden spikes, battery stores sustained energy.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206240" cy="1691640"/>
          </a:xfrm>
          <a:prstGeom prst="rect">
            <a:avLst/>
          </a:prstGeom>
          <a:solidFill>
            <a:srgbClr val="0E1E35"/>
          </a:solidFill>
          <a:ln w="1016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73752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3752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3063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3931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 for AI. MATLAB/Simulink for power electronics. MATLAB Engine API for Python↔Simulink co-simulation bridge.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1170432"/>
          </a:xfrm>
          <a:prstGeom prst="rect">
            <a:avLst/>
          </a:prstGeom>
          <a:solidFill>
            <a:srgbClr val="0E1E35"/>
          </a:solidFill>
          <a:ln w="1016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73152" cy="1170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3192" y="114300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1115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power electronics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142646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motor-generator, bidirectional DC-DC converters, battery (Thevenin) and supercapacitor (RC) in MATLAB Simulink.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06240" cy="1170432"/>
          </a:xfrm>
          <a:prstGeom prst="rect">
            <a:avLst/>
          </a:prstGeom>
          <a:solidFill>
            <a:srgbClr val="0E1E35"/>
          </a:solidFill>
          <a:ln w="10160">
            <a:solidFill>
              <a:srgbClr val="00E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73152" cy="1170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73752" y="1143000"/>
            <a:ext cx="457200" cy="4572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7375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58968" y="1115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 SoC dynamics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58968" y="142646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State of Charge of both storage elements under realistic braking over a 20-minute urban drive cycle.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331720"/>
            <a:ext cx="4206240" cy="1170432"/>
          </a:xfrm>
          <a:prstGeom prst="rect">
            <a:avLst/>
          </a:prstGeom>
          <a:solidFill>
            <a:srgbClr val="0E1E35"/>
          </a:solidFill>
          <a:ln w="10160">
            <a:solidFill>
              <a:srgbClr val="8B5C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331720"/>
            <a:ext cx="73152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93192" y="24688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8408" y="24414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ML control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27523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Random Forest classifier in Python trained on synthetic drive cycle data to predict optimal power split ratio.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331720"/>
            <a:ext cx="4206240" cy="1170432"/>
          </a:xfrm>
          <a:prstGeom prst="rect">
            <a:avLst/>
          </a:prstGeom>
          <a:solidFill>
            <a:srgbClr val="0E1E35"/>
          </a:solidFill>
          <a:ln w="1016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73752" y="24688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3752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58968" y="24414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Co-simulation bridge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58968" y="27523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Python ML agent with Simulink via MATLAB Engine API for real-time closed-loop control.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657600"/>
            <a:ext cx="4206240" cy="1170432"/>
          </a:xfrm>
          <a:prstGeom prst="rect">
            <a:avLst/>
          </a:prstGeom>
          <a:solidFill>
            <a:srgbClr val="0E1E35"/>
          </a:solidFill>
          <a:ln w="1016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" y="3657600"/>
            <a:ext cx="73152" cy="1170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93192" y="379476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8408" y="37673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strategies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8408" y="407822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ML agent against threshold-based baseline — energy recovered, battery cycles, SoC profiles.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657600"/>
            <a:ext cx="4206240" cy="1170432"/>
          </a:xfrm>
          <a:prstGeom prst="rect">
            <a:avLst/>
          </a:prstGeom>
          <a:solidFill>
            <a:srgbClr val="0E1E35"/>
          </a:solidFill>
          <a:ln w="10160">
            <a:solidFill>
              <a:srgbClr val="00E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9160" y="3657600"/>
            <a:ext cx="73152" cy="1170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73752" y="3794760"/>
            <a:ext cx="457200" cy="4572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73752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58968" y="37673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 results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58968" y="407822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dashboards: SoC curves, power split graphs, ML decision distribution, and cumulative energy recovery.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connect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8778240" cy="2971800"/>
          </a:xfrm>
          <a:prstGeom prst="rect">
            <a:avLst/>
          </a:prstGeom>
          <a:solidFill>
            <a:srgbClr val="112240"/>
          </a:solidFill>
          <a:ln w="762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69164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16916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417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 Cycle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67335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v(t), a(t)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31720" y="1325880"/>
            <a:ext cx="169164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31720" y="1325880"/>
            <a:ext cx="16916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31720" y="1417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Motor-Generator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167335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PMDC model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97680" y="1325880"/>
            <a:ext cx="178308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1325880"/>
            <a:ext cx="17830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14173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DC-DC Converter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167335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57400" y="1700784"/>
            <a:ext cx="274320" cy="0"/>
          </a:xfrm>
          <a:prstGeom prst="line">
            <a:avLst/>
          </a:prstGeom>
          <a:noFill/>
          <a:ln w="15240">
            <a:solidFill>
              <a:srgbClr val="00C8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023360" y="1700784"/>
            <a:ext cx="274320" cy="0"/>
          </a:xfrm>
          <a:prstGeom prst="line">
            <a:avLst/>
          </a:prstGeom>
          <a:noFill/>
          <a:ln w="15240">
            <a:solidFill>
              <a:srgbClr val="00C8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93792" y="2075688"/>
            <a:ext cx="0" cy="50292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93792" y="2578608"/>
            <a:ext cx="1371600" cy="0"/>
          </a:xfrm>
          <a:prstGeom prst="line">
            <a:avLst/>
          </a:prstGeom>
          <a:noFill/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93792" y="2578608"/>
            <a:ext cx="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2487168"/>
            <a:ext cx="169164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E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2487168"/>
            <a:ext cx="169164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25786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834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Thevenin model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931920" y="2487168"/>
            <a:ext cx="169164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31920" y="2487168"/>
            <a:ext cx="1691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31920" y="25786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Supercapacitor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0" y="2834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model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51192" y="2487168"/>
            <a:ext cx="0" cy="91440"/>
          </a:xfrm>
          <a:prstGeom prst="line">
            <a:avLst/>
          </a:prstGeom>
          <a:noFill/>
          <a:ln w="15240">
            <a:solidFill>
              <a:srgbClr val="00E5A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82312" y="2487168"/>
            <a:ext cx="0" cy="9144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2871216"/>
            <a:ext cx="0" cy="0"/>
          </a:xfrm>
          <a:prstGeom prst="line">
            <a:avLst/>
          </a:prstGeom>
          <a:noFill/>
          <a:ln w="10160">
            <a:solidFill>
              <a:srgbClr val="00E5A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931920" y="3063240"/>
            <a:ext cx="0" cy="0"/>
          </a:xfrm>
          <a:prstGeom prst="line">
            <a:avLst/>
          </a:prstGeom>
          <a:noFill/>
          <a:ln w="10160">
            <a:solidFill>
              <a:srgbClr val="8B5CF6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2423160"/>
            <a:ext cx="2834640" cy="132588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ML Agent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27614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298094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SoC_bat, SoC_sc, jerk, power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split_ratio → 0.10 / 0.50 / 0.80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08960" y="2724912"/>
            <a:ext cx="11887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82880" y="4041648"/>
            <a:ext cx="8778240" cy="438912"/>
          </a:xfrm>
          <a:prstGeom prst="rect">
            <a:avLst/>
          </a:prstGeom>
          <a:solidFill>
            <a:srgbClr val="0E1E35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4187952"/>
            <a:ext cx="256032" cy="14630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7240" y="41605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Simulink blocks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6040" y="4187952"/>
            <a:ext cx="256032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26080" y="41605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layer (dashed)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4187952"/>
            <a:ext cx="256032" cy="14630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74920" y="41605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path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4187952"/>
            <a:ext cx="256032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23760" y="41605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 path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development approach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1188720"/>
          </a:xfrm>
          <a:prstGeom prst="rect">
            <a:avLst/>
          </a:prstGeom>
          <a:solidFill>
            <a:srgbClr val="0E1E35"/>
          </a:solidFill>
          <a:ln w="1016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75488" cy="47548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111556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44475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HESS architectures, regen braking principles, and ML energy management.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" y="2194560"/>
            <a:ext cx="0" cy="137160"/>
          </a:xfrm>
          <a:prstGeom prst="line">
            <a:avLst/>
          </a:prstGeom>
          <a:noFill/>
          <a:ln w="12700">
            <a:solidFill>
              <a:srgbClr val="00C8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331720"/>
            <a:ext cx="4206240" cy="1188720"/>
          </a:xfrm>
          <a:prstGeom prst="rect">
            <a:avLst/>
          </a:prstGeom>
          <a:solidFill>
            <a:srgbClr val="0E1E35"/>
          </a:solidFill>
          <a:ln w="10160">
            <a:solidFill>
              <a:srgbClr val="00E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79192"/>
            <a:ext cx="475488" cy="47548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79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8408" y="244144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Simulink Modelling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277063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motor-generator, converters, Thevenin battery and RC supercapacitor in Simulink.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" y="3520440"/>
            <a:ext cx="0" cy="137160"/>
          </a:xfrm>
          <a:prstGeom prst="line">
            <a:avLst/>
          </a:prstGeom>
          <a:noFill/>
          <a:ln w="12700">
            <a:solidFill>
              <a:srgbClr val="00E5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0E1E35"/>
          </a:solidFill>
          <a:ln w="10160">
            <a:solidFill>
              <a:srgbClr val="8B5C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005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8408" y="37673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 Cycle Generation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409651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urban/suburban/highway drive cycles. Computed regen power from vehicle dynamics.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206240" cy="1188720"/>
          </a:xfrm>
          <a:prstGeom prst="rect">
            <a:avLst/>
          </a:prstGeom>
          <a:solidFill>
            <a:srgbClr val="0E1E35"/>
          </a:solidFill>
          <a:ln w="1016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35331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353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58968" y="111556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Dataset + 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144475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cycles, labelled 27,615 samples using physics oracle. Trained Random Forest.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84064" y="2194560"/>
            <a:ext cx="0" cy="1371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331720"/>
            <a:ext cx="4206240" cy="1188720"/>
          </a:xfrm>
          <a:prstGeom prst="rect">
            <a:avLst/>
          </a:prstGeom>
          <a:solidFill>
            <a:srgbClr val="0E1E35"/>
          </a:solidFill>
          <a:ln w="1016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679192"/>
            <a:ext cx="475488" cy="47548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679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58968" y="244144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Co-simulation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58968" y="277063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Python ML agent with Simulink via MATLAB Engine API for closed-loop control.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84064" y="3520440"/>
            <a:ext cx="0" cy="137160"/>
          </a:xfrm>
          <a:prstGeom prst="line">
            <a:avLst/>
          </a:prstGeom>
          <a:noFill/>
          <a:ln w="12700">
            <a:solidFill>
              <a:srgbClr val="00C8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09160" y="3657600"/>
            <a:ext cx="4206240" cy="1188720"/>
          </a:xfrm>
          <a:prstGeom prst="rect">
            <a:avLst/>
          </a:prstGeom>
          <a:solidFill>
            <a:srgbClr val="0E1E35"/>
          </a:solidFill>
          <a:ln w="10160">
            <a:solidFill>
              <a:srgbClr val="00E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46320" y="4005072"/>
            <a:ext cx="475488" cy="47548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4005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458968" y="37673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58968" y="409651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20-min simulation. ML made 4,363 decisions. Recovered 1,304 Wh. 0.175 bat cycles.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Algorithm — Power Split Logic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Random Forest decides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3931920"/>
          </a:xfrm>
          <a:prstGeom prst="rect">
            <a:avLst/>
          </a:prstGeom>
          <a:solidFill>
            <a:srgbClr val="0E1E35"/>
          </a:solidFill>
          <a:ln w="10160">
            <a:solidFill>
              <a:srgbClr val="1A3A5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Rules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4023360" cy="960120"/>
          </a:xfrm>
          <a:prstGeom prst="rect">
            <a:avLst/>
          </a:prstGeom>
          <a:solidFill>
            <a:srgbClr val="8B5CF6">
              <a:alpha val="12000"/>
            </a:srgbClr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7315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0 — Supercap-heavy  (10% battery)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" y="18105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|jerk| &gt; 1.5 m/s³  (sudden hard brake)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 &gt; 85%  (protect battery)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 has room + power is 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023360" cy="960120"/>
          </a:xfrm>
          <a:prstGeom prst="rect">
            <a:avLst/>
          </a:prstGeom>
          <a:solidFill>
            <a:srgbClr val="00E5A0">
              <a:alpha val="12000"/>
            </a:srgbClr>
          </a:solidFill>
          <a:ln w="1016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73152" cy="9601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" y="2624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1 — Balanced  (50 / 50%)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" y="2926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braking, both devices in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SoC, normal conditions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75888"/>
            <a:ext cx="4023360" cy="960120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675888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" y="37398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2 — Battery-heavy  (80% battery)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" y="40416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 SoC &gt; 75%  (supercap full)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 SoC &lt; 25%  (supercap empty)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high power  &gt; 20 kW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206240" cy="1600200"/>
          </a:xfrm>
          <a:prstGeom prst="rect">
            <a:avLst/>
          </a:prstGeom>
          <a:solidFill>
            <a:srgbClr val="0E1E35"/>
          </a:solidFill>
          <a:ln w="10160">
            <a:solidFill>
              <a:srgbClr val="1A3A5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Details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4173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0" y="1417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16184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16184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estimators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181965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181965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27,615 labelled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0208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0" y="20208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221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2221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(Supercap / Balanced / Battery)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697480"/>
            <a:ext cx="4206240" cy="2194560"/>
          </a:xfrm>
          <a:prstGeom prst="rect">
            <a:avLst/>
          </a:prstGeom>
          <a:solidFill>
            <a:srgbClr val="0E1E35"/>
          </a:solidFill>
          <a:ln w="10160">
            <a:solidFill>
              <a:srgbClr val="1A3A5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2788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3218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Jerk (m/s³)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3236976"/>
            <a:ext cx="111191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72200" y="3236976"/>
            <a:ext cx="2926080" cy="18288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29830" y="3218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3538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supercap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3557016"/>
            <a:ext cx="643738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72200" y="3557016"/>
            <a:ext cx="2926080" cy="18288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61658" y="353872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38587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cycles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3877056"/>
            <a:ext cx="526694" cy="182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72200" y="3877056"/>
            <a:ext cx="2926080" cy="182880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44614" y="385876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4178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(km/h)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72200" y="4197096"/>
            <a:ext cx="351130" cy="1828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72200" y="4197096"/>
            <a:ext cx="2926080" cy="182880"/>
          </a:xfrm>
          <a:prstGeom prst="rect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69050" y="417880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44988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battery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72200" y="4517136"/>
            <a:ext cx="292608" cy="18288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72200" y="4517136"/>
            <a:ext cx="2926080" cy="182880"/>
          </a:xfrm>
          <a:prstGeom prst="rect">
            <a:avLst/>
          </a:prstGeom>
          <a:solidFill>
            <a:srgbClr val="C8D8E8">
              <a:alpha val="15000"/>
            </a:srgbClr>
          </a:solidFill>
          <a:ln w="12700">
            <a:solidFill>
              <a:srgbClr val="C8D8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10528" y="449884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urban drive cycle — AI vs Threshold baseline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993392" cy="914400"/>
          </a:xfrm>
          <a:prstGeom prst="rect">
            <a:avLst/>
          </a:prstGeom>
          <a:solidFill>
            <a:srgbClr val="0E1E35"/>
          </a:solidFill>
          <a:ln w="10160">
            <a:solidFill>
              <a:srgbClr val="00E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1993392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1078992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1,304 Wh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53619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recovered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4872" y="960120"/>
            <a:ext cx="1993392" cy="914400"/>
          </a:xfrm>
          <a:prstGeom prst="rect">
            <a:avLst/>
          </a:prstGeom>
          <a:solidFill>
            <a:srgbClr val="0E1E35"/>
          </a:solidFill>
          <a:ln w="1016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04872" y="960120"/>
            <a:ext cx="1993392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04872" y="1078992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4,363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04872" y="153619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 events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81144" y="960120"/>
            <a:ext cx="1993392" cy="914400"/>
          </a:xfrm>
          <a:prstGeom prst="rect">
            <a:avLst/>
          </a:prstGeom>
          <a:solidFill>
            <a:srgbClr val="0E1E35"/>
          </a:solidFill>
          <a:ln w="1016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81144" y="960120"/>
            <a:ext cx="19933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1144" y="1078992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81144" y="153619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cycles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57416" y="960120"/>
            <a:ext cx="1993392" cy="914400"/>
          </a:xfrm>
          <a:prstGeom prst="rect">
            <a:avLst/>
          </a:prstGeom>
          <a:solidFill>
            <a:srgbClr val="0E1E35"/>
          </a:solidFill>
          <a:ln w="10160">
            <a:solidFill>
              <a:srgbClr val="8B5C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57416" y="960120"/>
            <a:ext cx="199339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57416" y="1078992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59.9%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57416" y="153619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Supercap-heavy calls</a:t>
            </a:r>
            <a:endParaRPr lang="en-US" sz="9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0"/>
            <a:ext cx="86868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graph tells us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3931920"/>
            <a:ext cx="8686800" cy="804672"/>
          </a:xfrm>
          <a:prstGeom prst="rect">
            <a:avLst/>
          </a:prstGeom>
          <a:solidFill>
            <a:srgbClr val="0E1E35"/>
          </a:solidFill>
          <a:ln w="1016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8600" y="3931920"/>
            <a:ext cx="73152" cy="8046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3986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42428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agent matches baseline energy recovery (~1,250 Wh) while keeping supercap SoC lower — preserving headroom for the next braking burst. This is the intelligent trade-off a smart controller should make.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Resources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documentation, and video resources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8686800" cy="749808"/>
          </a:xfrm>
          <a:prstGeom prst="rect">
            <a:avLst/>
          </a:prstGeom>
          <a:solidFill>
            <a:srgbClr val="0E1E35"/>
          </a:solidFill>
          <a:ln w="10160">
            <a:solidFill>
              <a:srgbClr val="00C8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73152" cy="7498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14300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[1]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097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Cao, J. &amp; Emadi, A. (2012)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38988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Battery/UltraCapacitor Hybrid Energy Storage System for Electric, Hybrid, and Plug-In Hybrid EVs. — IEEE Trans. Power Electronics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1901952"/>
            <a:ext cx="8686800" cy="749808"/>
          </a:xfrm>
          <a:prstGeom prst="rect">
            <a:avLst/>
          </a:prstGeom>
          <a:solidFill>
            <a:srgbClr val="0E1E35"/>
          </a:solidFill>
          <a:ln w="10160">
            <a:solidFill>
              <a:srgbClr val="00E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1901952"/>
            <a:ext cx="73152" cy="7498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039112"/>
            <a:ext cx="457200" cy="45720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[2]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19933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Song, Z. et al. (2014)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2860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 Strategies Comparison for Electric Vehicles with Hybrid Energy Storage System. — Applied Energy, Elsevier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798064"/>
            <a:ext cx="8686800" cy="749808"/>
          </a:xfrm>
          <a:prstGeom prst="rect">
            <a:avLst/>
          </a:prstGeom>
          <a:solidFill>
            <a:srgbClr val="0E1E35"/>
          </a:solidFill>
          <a:ln w="10160">
            <a:solidFill>
              <a:srgbClr val="8B5CF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798064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2935224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[3]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28895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Shen, J. et al. (2014)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18211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Online Method for Predictive Real-Time Energy Management of Plug-In Hybrid Electric Vehicles. — IEEE Trans. Vehicular Technology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694176"/>
            <a:ext cx="8686800" cy="749808"/>
          </a:xfrm>
          <a:prstGeom prst="rect">
            <a:avLst/>
          </a:prstGeom>
          <a:solidFill>
            <a:srgbClr val="0E1E35"/>
          </a:solidFill>
          <a:ln w="1016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3694176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383133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[4]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" y="37856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MathWorks Documentation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" y="40782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Engine API for Python — Official co-simulation documentation. mathworks.com/help/matlab/matlab-engine-for-python.html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1A0808"/>
          </a:solidFill>
          <a:ln w="1016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46817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17320" y="46817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Braking Explained — EngineeringMindset  |  Random Forest — StatQuest  |  EV Simulink Modelling — MATLAB Official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54864" cy="50337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89136" y="54864"/>
            <a:ext cx="54864" cy="50337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0" y="731520"/>
            <a:ext cx="3291840" cy="3291840"/>
          </a:xfrm>
          <a:prstGeom prst="ellipse">
            <a:avLst/>
          </a:prstGeom>
          <a:solidFill>
            <a:srgbClr val="00E5A0">
              <a:alpha val="8000"/>
            </a:srgbClr>
          </a:solidFill>
          <a:ln w="10160">
            <a:solidFill>
              <a:srgbClr val="00E5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3127248"/>
            <a:ext cx="27432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AI-Controlled HESS for Regenerative Braking  |  ECS Mini Project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902</Words>
  <Application>Microsoft Macintosh PowerPoint</Application>
  <PresentationFormat>On-screen Show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AI-Controlled Hybrid Energy Storage — Regenerative Braking</dc:title>
  <dc:subject>PptxGenJS Presentation</dc:subject>
  <dc:creator>PptxGenJS</dc:creator>
  <cp:lastModifiedBy>Tanisha Ahlawat</cp:lastModifiedBy>
  <cp:revision>3</cp:revision>
  <dcterms:created xsi:type="dcterms:W3CDTF">2026-04-05T19:00:29Z</dcterms:created>
  <dcterms:modified xsi:type="dcterms:W3CDTF">2026-05-18T10:35:03Z</dcterms:modified>
</cp:coreProperties>
</file>